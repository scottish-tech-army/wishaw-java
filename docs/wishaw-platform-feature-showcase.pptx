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1EDB-7D18-6EC3-D523-E53F19C57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1ACC6-E4DA-0B01-7B69-82BCADA28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3BECC-27D9-C934-241B-6FD171F6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4FA07-6373-6956-7D1C-371CC6D7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16BA-287E-F726-852C-C92B1607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21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0AF6-8064-0EDC-854F-96E4E9B9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2E21-1694-22B9-5C1C-CB268F13F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612B-86BA-259F-0852-C4226F0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17D4-D9CD-2521-ADC8-38D195AC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46C60-0167-FF91-4BAD-210AAA1D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14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CC65-0A82-85EA-72D3-C96443A2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33483-FA51-1AB8-D3A3-9F30A7BB1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5C85-8E64-0603-8721-27F058C0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95FC7-464A-E484-EEF4-C49E7FEC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119F-8002-6C0F-EE7C-B39BBDF9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07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2312-2E4C-28AE-C36A-18A9609F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B207-5ED1-AB9B-012D-5B4E847CD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14BC9-DB5A-A642-E3CE-3FB1BD122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EF081-DCE8-3E21-1C8D-06857724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72BBE-A7BD-FF20-5856-D62CFF56A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DA7CE-F7CE-C8B3-DDDA-652D9727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0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E2B4-35D8-D45C-F0EB-DB30A355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386AB-A9BF-E6FC-39BB-5A4D6C4F8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5268E-7EBC-96B9-DFBD-FFA36FC05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AA0F75-6352-F6F7-6865-2635F1301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ADCB4-A6EA-ADD8-8BF5-5D8939B3C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2B1DF-3171-520D-4C7C-ED9602DB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33A1C-09F5-EEE9-836E-AEF95465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B5AD1-50E2-453D-00C2-E26022B7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47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3E0D-97FD-824E-98D8-50386195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2FC01-0360-6F7A-858C-F59B87FE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585BD-FE6C-C173-044D-9AAF3171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3D662-91CB-F6A5-52DD-64CD3118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21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B110E-B76E-FAA8-8171-B82BD1C8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8CC76-A9BA-B35B-2E84-9A58D8027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E724F-3789-4FDD-0673-1A3DDDE1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6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D6913-4D50-74A6-3DA8-5047F1F8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867DD-FFA0-B5A1-B44D-B1E85D118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B250D-DD98-A835-2876-5DA407AF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3175B-4EFC-22EC-A6DF-824571B2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BD61-EB69-D5B6-21E7-B8AEB53F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AA8DD-6D29-7E8C-965C-E1156BC1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4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3601-B91A-05F5-A0BF-62193870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365ED2-0A44-6B83-0621-5AD9F927C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DD6FE-51F9-F672-A186-38C7DD7F3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FD86-11B5-D1FB-8968-6A55B91F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80046-F232-3B2F-30E9-0B93FA02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37F9B-1946-D97B-2F5E-AE4A99EC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2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DCB8-47C7-C62B-BB8F-E179202C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380B9-D92D-27F9-0386-225FA6AEB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4874-F7A2-4D97-E37D-5341D8F6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E6DC-54A2-A446-38D6-EB213380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19102-4151-564C-9290-9F964F3E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14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43E26-B9BC-C5F4-ABE5-F5AAF4FFE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8C01C-AFAB-AFB6-B727-BA303A55A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481BB-C2DE-5BE0-213A-CC5FBDB9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4F725-3049-ED3B-FC5A-A8543D0C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8E5B5-55D6-9C47-C326-8AB63E1F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44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70682-232F-6D97-600E-901B8DE1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AA0B7-FAD1-FF98-14B1-BCC91F49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640C8-F84E-2C9F-1ADE-9AC63868F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FF4B5-1284-487A-BB09-F7C6A64C1293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D7B4F-B222-39CB-8DB6-90486D1F0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A82ED-14D7-C87A-375C-E889DA223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CD5AE-6046-4916-BCE0-6F0E3D2ED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5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09EA5A-F4C0-900B-55EA-F8880923125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111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08111F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B455C3-9A3B-AB8F-740D-A6B24AB5BF70}"/>
              </a:ext>
            </a:extLst>
          </p:cNvPr>
          <p:cNvSpPr/>
          <p:nvPr/>
        </p:nvSpPr>
        <p:spPr>
          <a:xfrm>
            <a:off x="0" y="0"/>
            <a:ext cx="2489200" cy="6858000"/>
          </a:xfrm>
          <a:prstGeom prst="rect">
            <a:avLst/>
          </a:prstGeom>
          <a:solidFill>
            <a:srgbClr val="0B5C73">
              <a:alpha val="22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0B5C73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166818-2958-D92A-5872-0519721F8800}"/>
              </a:ext>
            </a:extLst>
          </p:cNvPr>
          <p:cNvSpPr/>
          <p:nvPr/>
        </p:nvSpPr>
        <p:spPr>
          <a:xfrm>
            <a:off x="6731000" y="0"/>
            <a:ext cx="2413000" cy="6858000"/>
          </a:xfrm>
          <a:prstGeom prst="rect">
            <a:avLst/>
          </a:prstGeom>
          <a:solidFill>
            <a:srgbClr val="D97706">
              <a:alpha val="16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D97706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DC389-54B4-5696-B03D-787C8EA0F88C}"/>
              </a:ext>
            </a:extLst>
          </p:cNvPr>
          <p:cNvSpPr/>
          <p:nvPr/>
        </p:nvSpPr>
        <p:spPr>
          <a:xfrm>
            <a:off x="431800" y="584200"/>
            <a:ext cx="8280400" cy="5384800"/>
          </a:xfrm>
          <a:prstGeom prst="rect">
            <a:avLst/>
          </a:prstGeom>
          <a:solidFill>
            <a:srgbClr val="0F172A"/>
          </a:solidFill>
          <a:ln w="19050" cap="flat" cmpd="sng" algn="ctr">
            <a:solidFill>
              <a:srgbClr val="22314A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CD0DC-A430-C3CE-9585-DCDAC6479733}"/>
              </a:ext>
            </a:extLst>
          </p:cNvPr>
          <p:cNvSpPr txBox="1"/>
          <p:nvPr/>
        </p:nvSpPr>
        <p:spPr>
          <a:xfrm>
            <a:off x="736600" y="1041400"/>
            <a:ext cx="381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 b="1">
                <a:solidFill>
                  <a:srgbClr val="67E8F9"/>
                </a:solidFill>
                <a:latin typeface="Aptos" panose="020B0004020202020204" pitchFamily="34" charset="0"/>
              </a:rPr>
              <a:t>Wishaw eSports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8D453-7931-1EE9-B395-82B52C7FF736}"/>
              </a:ext>
            </a:extLst>
          </p:cNvPr>
          <p:cNvSpPr txBox="1"/>
          <p:nvPr/>
        </p:nvSpPr>
        <p:spPr>
          <a:xfrm>
            <a:off x="736600" y="1397000"/>
            <a:ext cx="508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3000" b="1">
                <a:solidFill>
                  <a:srgbClr val="F8FAFC"/>
                </a:solidFill>
                <a:latin typeface="Aptos Display" panose="020B0004020202020204" pitchFamily="34" charset="0"/>
              </a:rPr>
              <a:t>Feature Showcase Deck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FFCA1-7A11-E13D-EC0F-59B69FED216E}"/>
              </a:ext>
            </a:extLst>
          </p:cNvPr>
          <p:cNvSpPr txBox="1"/>
          <p:nvPr/>
        </p:nvSpPr>
        <p:spPr>
          <a:xfrm>
            <a:off x="736600" y="2209800"/>
            <a:ext cx="5207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700">
                <a:solidFill>
                  <a:srgbClr val="CBD5E1"/>
                </a:solidFill>
                <a:latin typeface="Aptos" panose="020B0004020202020204" pitchFamily="34" charset="0"/>
              </a:rPr>
              <a:t>A presentation of the strongest features built across the player and admin experiences, including tournament controls, badge progression, module operations, and the new spreadsheet import pipeline.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06E34-A3FE-0B4C-1DE2-6C234043D241}"/>
              </a:ext>
            </a:extLst>
          </p:cNvPr>
          <p:cNvSpPr/>
          <p:nvPr/>
        </p:nvSpPr>
        <p:spPr>
          <a:xfrm>
            <a:off x="736600" y="37592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C64D2-C76A-543A-FB70-9C2036195977}"/>
              </a:ext>
            </a:extLst>
          </p:cNvPr>
          <p:cNvSpPr txBox="1"/>
          <p:nvPr/>
        </p:nvSpPr>
        <p:spPr>
          <a:xfrm>
            <a:off x="914400" y="39370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Admin upload run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22A2B-8AB3-050D-B449-EBF489213AD1}"/>
              </a:ext>
            </a:extLst>
          </p:cNvPr>
          <p:cNvSpPr txBox="1"/>
          <p:nvPr/>
        </p:nvSpPr>
        <p:spPr>
          <a:xfrm>
            <a:off x="914400" y="4191000"/>
            <a:ext cx="167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7 sheets / 99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EF1BB-A755-48F6-7681-4B8798B7ED26}"/>
              </a:ext>
            </a:extLst>
          </p:cNvPr>
          <p:cNvSpPr/>
          <p:nvPr/>
        </p:nvSpPr>
        <p:spPr>
          <a:xfrm>
            <a:off x="2286000" y="3937000"/>
            <a:ext cx="304800" cy="304800"/>
          </a:xfrm>
          <a:prstGeom prst="rect">
            <a:avLst/>
          </a:prstGeom>
          <a:solidFill>
            <a:srgbClr val="14B8A6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4B8A6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8971E2-E5D7-66F2-E5A4-22A446B6B350}"/>
              </a:ext>
            </a:extLst>
          </p:cNvPr>
          <p:cNvSpPr/>
          <p:nvPr/>
        </p:nvSpPr>
        <p:spPr>
          <a:xfrm>
            <a:off x="2895600" y="37592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45F5A-7777-6055-055F-161850F7C5F6}"/>
              </a:ext>
            </a:extLst>
          </p:cNvPr>
          <p:cNvSpPr txBox="1"/>
          <p:nvPr/>
        </p:nvSpPr>
        <p:spPr>
          <a:xfrm>
            <a:off x="3073400" y="39370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Security check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0906F-45D5-9F22-45AA-70C7E26753A3}"/>
              </a:ext>
            </a:extLst>
          </p:cNvPr>
          <p:cNvSpPr txBox="1"/>
          <p:nvPr/>
        </p:nvSpPr>
        <p:spPr>
          <a:xfrm>
            <a:off x="3073400" y="4191000"/>
            <a:ext cx="16764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Player import = 403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ADB619-D1C5-547A-FA96-D8CB24BACC03}"/>
              </a:ext>
            </a:extLst>
          </p:cNvPr>
          <p:cNvSpPr/>
          <p:nvPr/>
        </p:nvSpPr>
        <p:spPr>
          <a:xfrm>
            <a:off x="4445000" y="3937000"/>
            <a:ext cx="304800" cy="304800"/>
          </a:xfrm>
          <a:prstGeom prst="rect">
            <a:avLst/>
          </a:prstGeom>
          <a:solidFill>
            <a:srgbClr val="22C55E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22C55E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76646-34A5-4836-6A08-67DFE12E4342}"/>
              </a:ext>
            </a:extLst>
          </p:cNvPr>
          <p:cNvSpPr/>
          <p:nvPr/>
        </p:nvSpPr>
        <p:spPr>
          <a:xfrm>
            <a:off x="5054600" y="37592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08445E-D9A4-39F2-28C2-B0079B7D7E83}"/>
              </a:ext>
            </a:extLst>
          </p:cNvPr>
          <p:cNvSpPr txBox="1"/>
          <p:nvPr/>
        </p:nvSpPr>
        <p:spPr>
          <a:xfrm>
            <a:off x="5232400" y="39370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Live stack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DF2E5-9A27-E7B9-BF6E-F40FA047684B}"/>
              </a:ext>
            </a:extLst>
          </p:cNvPr>
          <p:cNvSpPr txBox="1"/>
          <p:nvPr/>
        </p:nvSpPr>
        <p:spPr>
          <a:xfrm>
            <a:off x="5232400" y="4191000"/>
            <a:ext cx="16764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Frontend 3000  |  API 8080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874858-87DA-830B-4362-10FEBB7DCB47}"/>
              </a:ext>
            </a:extLst>
          </p:cNvPr>
          <p:cNvSpPr/>
          <p:nvPr/>
        </p:nvSpPr>
        <p:spPr>
          <a:xfrm>
            <a:off x="6604000" y="3937000"/>
            <a:ext cx="304800" cy="304800"/>
          </a:xfrm>
          <a:prstGeom prst="rect">
            <a:avLst/>
          </a:prstGeom>
          <a:solidFill>
            <a:srgbClr val="F59E0B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59E0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91BF0-3D92-4097-0D84-3D1F29331D04}"/>
              </a:ext>
            </a:extLst>
          </p:cNvPr>
          <p:cNvSpPr txBox="1"/>
          <p:nvPr/>
        </p:nvSpPr>
        <p:spPr>
          <a:xfrm>
            <a:off x="6324600" y="15240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200" b="1">
                <a:solidFill>
                  <a:srgbClr val="94A3B8"/>
                </a:solidFill>
                <a:latin typeface="Aptos" panose="020B0004020202020204" pitchFamily="34" charset="0"/>
              </a:rPr>
              <a:t>Deck focus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2C4599-7F1F-06BD-EBE1-B8A4083DF0D5}"/>
              </a:ext>
            </a:extLst>
          </p:cNvPr>
          <p:cNvSpPr txBox="1"/>
          <p:nvPr/>
        </p:nvSpPr>
        <p:spPr>
          <a:xfrm>
            <a:off x="6324600" y="1905000"/>
            <a:ext cx="190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>
                <a:solidFill>
                  <a:srgbClr val="F8FAFC"/>
                </a:solidFill>
                <a:latin typeface="Aptos" panose="020B0004020202020204" pitchFamily="34" charset="0"/>
              </a:rPr>
              <a:t>1. Player growth and badges`r2. Tournament guardrails`r3. Admin operations and import tools`r4. Validation-ready local workflow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48926-A001-CDCB-64A2-08A57AF15635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1</a:t>
            </a:r>
          </a:p>
        </p:txBody>
      </p:sp>
    </p:spTree>
    <p:extLst>
      <p:ext uri="{BB962C8B-B14F-4D97-AF65-F5344CB8AC3E}">
        <p14:creationId xmlns:p14="http://schemas.microsoft.com/office/powerpoint/2010/main" val="2796284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E907F6-B582-7DF3-1FD2-2C2DEFE019D9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E293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B86EA-6EA4-E5C4-56D2-456202BC0198}"/>
              </a:ext>
            </a:extLst>
          </p:cNvPr>
          <p:cNvSpPr txBox="1"/>
          <p:nvPr/>
        </p:nvSpPr>
        <p:spPr>
          <a:xfrm>
            <a:off x="431800" y="5842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67E8F9"/>
                </a:solidFill>
                <a:latin typeface="Aptos" panose="020B0004020202020204" pitchFamily="34" charset="0"/>
              </a:rPr>
              <a:t>PLAYER GROWTH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85F63-7775-81C3-070E-C5842902FCBE}"/>
              </a:ext>
            </a:extLst>
          </p:cNvPr>
          <p:cNvSpPr txBox="1"/>
          <p:nvPr/>
        </p:nvSpPr>
        <p:spPr>
          <a:xfrm>
            <a:off x="431800" y="863600"/>
            <a:ext cx="5207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F8FAFC"/>
                </a:solidFill>
                <a:latin typeface="Aptos Display" panose="020B0004020202020204" pitchFamily="34" charset="0"/>
              </a:rPr>
              <a:t>Badges, modules, and visible progress now work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D5629-FA51-6809-F292-5A696F7A7F4D}"/>
              </a:ext>
            </a:extLst>
          </p:cNvPr>
          <p:cNvSpPr txBox="1"/>
          <p:nvPr/>
        </p:nvSpPr>
        <p:spPr>
          <a:xfrm>
            <a:off x="431800" y="1778000"/>
            <a:ext cx="4953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CBD5E1"/>
                </a:solidFill>
                <a:latin typeface="Aptos" panose="020B0004020202020204" pitchFamily="34" charset="0"/>
              </a:rPr>
              <a:t>The player dashboard now surfaces XP, badge levels, sub-badge activity, and module momentum in one place instead of scattering that context across multiple screens.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56938A-CC0E-0ECB-7BC3-3CACAAC0C61E}"/>
              </a:ext>
            </a:extLst>
          </p:cNvPr>
          <p:cNvSpPr txBox="1"/>
          <p:nvPr/>
        </p:nvSpPr>
        <p:spPr>
          <a:xfrm>
            <a:off x="431800" y="2794000"/>
            <a:ext cx="4953000" cy="27648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Badge progress and level states are visible directly from the dashboard and badge journey views.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Sub-badge progress is tied back to module activity so players can see what they have earned and what is next.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Player stats and learning progress remain readable for both casual users and demo audiences.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19D35-7151-CA48-DDD8-8E72A27C401D}"/>
              </a:ext>
            </a:extLst>
          </p:cNvPr>
          <p:cNvSpPr/>
          <p:nvPr/>
        </p:nvSpPr>
        <p:spPr>
          <a:xfrm>
            <a:off x="5791200" y="736600"/>
            <a:ext cx="2895600" cy="4572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BE133-B2A2-E824-33A8-F63401DD26EF}"/>
              </a:ext>
            </a:extLst>
          </p:cNvPr>
          <p:cNvSpPr txBox="1"/>
          <p:nvPr/>
        </p:nvSpPr>
        <p:spPr>
          <a:xfrm>
            <a:off x="6070600" y="10414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4A3B8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C1332A-1C9F-8047-61A6-2BAA65FCB7F0}"/>
              </a:ext>
            </a:extLst>
          </p:cNvPr>
          <p:cNvSpPr txBox="1"/>
          <p:nvPr/>
        </p:nvSpPr>
        <p:spPr>
          <a:xfrm>
            <a:off x="6070600" y="1320800"/>
            <a:ext cx="22098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F8FAFC"/>
                </a:solidFill>
                <a:latin typeface="Aptos Display" panose="020B0004020202020204" pitchFamily="34" charset="0"/>
              </a:rPr>
              <a:t>Learning loop visibility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7F343-771A-21B0-50F6-EC689A0D87F3}"/>
              </a:ext>
            </a:extLst>
          </p:cNvPr>
          <p:cNvSpPr txBox="1"/>
          <p:nvPr/>
        </p:nvSpPr>
        <p:spPr>
          <a:xfrm>
            <a:off x="6070600" y="2082800"/>
            <a:ext cx="2286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>
                <a:solidFill>
                  <a:srgbClr val="CBD5E1"/>
                </a:solidFill>
                <a:latin typeface="Aptos" panose="020B0004020202020204" pitchFamily="34" charset="0"/>
              </a:rPr>
              <a:t>The platform now feels like one connected progression experience: learn through modules, earn sub-badges, and track outcomes without losing context.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FEF358-79FA-7C6C-2568-7EAB88D3F6F5}"/>
              </a:ext>
            </a:extLst>
          </p:cNvPr>
          <p:cNvSpPr/>
          <p:nvPr/>
        </p:nvSpPr>
        <p:spPr>
          <a:xfrm>
            <a:off x="6070600" y="32766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C1588-60BD-78D4-B3ED-C23FF07341B6}"/>
              </a:ext>
            </a:extLst>
          </p:cNvPr>
          <p:cNvSpPr txBox="1"/>
          <p:nvPr/>
        </p:nvSpPr>
        <p:spPr>
          <a:xfrm>
            <a:off x="6248400" y="34544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Dashboard signal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DF525-EE32-253F-B379-57FF628EFD4B}"/>
              </a:ext>
            </a:extLst>
          </p:cNvPr>
          <p:cNvSpPr txBox="1"/>
          <p:nvPr/>
        </p:nvSpPr>
        <p:spPr>
          <a:xfrm>
            <a:off x="6248400" y="3708400"/>
            <a:ext cx="16764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XP + badges + modules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E7A8D5-4524-C626-B51B-D5EA70710AA0}"/>
              </a:ext>
            </a:extLst>
          </p:cNvPr>
          <p:cNvSpPr/>
          <p:nvPr/>
        </p:nvSpPr>
        <p:spPr>
          <a:xfrm>
            <a:off x="7620000" y="3454400"/>
            <a:ext cx="304800" cy="304800"/>
          </a:xfrm>
          <a:prstGeom prst="rect">
            <a:avLst/>
          </a:prstGeom>
          <a:solidFill>
            <a:srgbClr val="38BDF8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38BDF8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42162-33BA-D415-C0B8-DB3B60136C45}"/>
              </a:ext>
            </a:extLst>
          </p:cNvPr>
          <p:cNvSpPr/>
          <p:nvPr/>
        </p:nvSpPr>
        <p:spPr>
          <a:xfrm>
            <a:off x="6070600" y="44704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6E683-F4B4-3B80-3E98-10C3182BA0C6}"/>
              </a:ext>
            </a:extLst>
          </p:cNvPr>
          <p:cNvSpPr txBox="1"/>
          <p:nvPr/>
        </p:nvSpPr>
        <p:spPr>
          <a:xfrm>
            <a:off x="6248400" y="46482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User benefit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1B8864-4C9C-E1BF-E0F6-BF64DDE42CE7}"/>
              </a:ext>
            </a:extLst>
          </p:cNvPr>
          <p:cNvSpPr txBox="1"/>
          <p:nvPr/>
        </p:nvSpPr>
        <p:spPr>
          <a:xfrm>
            <a:off x="6248400" y="4902200"/>
            <a:ext cx="167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Clear next steps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49CD66-126F-EADD-2C48-FF243FFDF0BC}"/>
              </a:ext>
            </a:extLst>
          </p:cNvPr>
          <p:cNvSpPr/>
          <p:nvPr/>
        </p:nvSpPr>
        <p:spPr>
          <a:xfrm>
            <a:off x="7620000" y="4648200"/>
            <a:ext cx="304800" cy="304800"/>
          </a:xfrm>
          <a:prstGeom prst="rect">
            <a:avLst/>
          </a:prstGeom>
          <a:solidFill>
            <a:srgbClr val="60A5FA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60A5FA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E0FE0C-8C0B-64CF-24BC-18A10CC0A817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2</a:t>
            </a:r>
          </a:p>
        </p:txBody>
      </p:sp>
    </p:spTree>
    <p:extLst>
      <p:ext uri="{BB962C8B-B14F-4D97-AF65-F5344CB8AC3E}">
        <p14:creationId xmlns:p14="http://schemas.microsoft.com/office/powerpoint/2010/main" val="413527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0BE326-FE06-62E2-483A-4AFBB49E4172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E293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83F57-E5C5-BCAB-E66D-7BE5E599F7B8}"/>
              </a:ext>
            </a:extLst>
          </p:cNvPr>
          <p:cNvSpPr txBox="1"/>
          <p:nvPr/>
        </p:nvSpPr>
        <p:spPr>
          <a:xfrm>
            <a:off x="431800" y="5842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67E8F9"/>
                </a:solidFill>
                <a:latin typeface="Aptos" panose="020B0004020202020204" pitchFamily="34" charset="0"/>
              </a:rPr>
              <a:t>TOURNAMENT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4678D-F89B-3EAE-69BE-2464C905673D}"/>
              </a:ext>
            </a:extLst>
          </p:cNvPr>
          <p:cNvSpPr txBox="1"/>
          <p:nvPr/>
        </p:nvSpPr>
        <p:spPr>
          <a:xfrm>
            <a:off x="431800" y="863600"/>
            <a:ext cx="5207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F8FAFC"/>
                </a:solidFill>
                <a:latin typeface="Aptos Display" panose="020B0004020202020204" pitchFamily="34" charset="0"/>
              </a:rPr>
              <a:t>Tournament actions are safer, cleaner, and role-aware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C65F3-8897-827F-897F-5EE9E5D710DE}"/>
              </a:ext>
            </a:extLst>
          </p:cNvPr>
          <p:cNvSpPr txBox="1"/>
          <p:nvPr/>
        </p:nvSpPr>
        <p:spPr>
          <a:xfrm>
            <a:off x="431800" y="1778000"/>
            <a:ext cx="4953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CBD5E1"/>
                </a:solidFill>
                <a:latin typeface="Aptos" panose="020B0004020202020204" pitchFamily="34" charset="0"/>
              </a:rPr>
              <a:t>Competition flows now prevent duplicate actions, keep publishing in admin hands only, and show more trustworthy participant numbers by counting registered users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19C34-FA22-1449-AA70-C54023A7FAEB}"/>
              </a:ext>
            </a:extLst>
          </p:cNvPr>
          <p:cNvSpPr txBox="1"/>
          <p:nvPr/>
        </p:nvSpPr>
        <p:spPr>
          <a:xfrm>
            <a:off x="431800" y="2794000"/>
            <a:ext cx="4953000" cy="24878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Publish buttons are exclusive to admins; players no longer see or trigger publish actions.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Join and publish buttons disable after successful requests to prevent duplicate submissions.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Participant totals now use REGISTERED state only, reducing misleading counts after withdrawals.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3F2E2-8516-A6BD-BF36-167F592831C9}"/>
              </a:ext>
            </a:extLst>
          </p:cNvPr>
          <p:cNvSpPr/>
          <p:nvPr/>
        </p:nvSpPr>
        <p:spPr>
          <a:xfrm>
            <a:off x="5791200" y="736600"/>
            <a:ext cx="2895600" cy="4572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01DBF-1EEF-7156-D701-249F09F0F298}"/>
              </a:ext>
            </a:extLst>
          </p:cNvPr>
          <p:cNvSpPr txBox="1"/>
          <p:nvPr/>
        </p:nvSpPr>
        <p:spPr>
          <a:xfrm>
            <a:off x="6070600" y="10414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4A3B8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817C4-7A2C-C4B8-450B-5FA6EE485988}"/>
              </a:ext>
            </a:extLst>
          </p:cNvPr>
          <p:cNvSpPr txBox="1"/>
          <p:nvPr/>
        </p:nvSpPr>
        <p:spPr>
          <a:xfrm>
            <a:off x="6070600" y="1320800"/>
            <a:ext cx="22098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F8FAFC"/>
                </a:solidFill>
                <a:latin typeface="Aptos Display" panose="020B0004020202020204" pitchFamily="34" charset="0"/>
              </a:rPr>
              <a:t>Operational guardrails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60838-B779-E507-A971-5F82093073B4}"/>
              </a:ext>
            </a:extLst>
          </p:cNvPr>
          <p:cNvSpPr txBox="1"/>
          <p:nvPr/>
        </p:nvSpPr>
        <p:spPr>
          <a:xfrm>
            <a:off x="6070600" y="2082800"/>
            <a:ext cx="2286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>
                <a:solidFill>
                  <a:srgbClr val="CBD5E1"/>
                </a:solidFill>
                <a:latin typeface="Aptos" panose="020B0004020202020204" pitchFamily="34" charset="0"/>
              </a:rPr>
              <a:t>This removes common demo and production failure modes: double joins, double publishes, and inflated participant counts.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BBE51-857A-4680-437F-918FD5EC36FB}"/>
              </a:ext>
            </a:extLst>
          </p:cNvPr>
          <p:cNvSpPr/>
          <p:nvPr/>
        </p:nvSpPr>
        <p:spPr>
          <a:xfrm>
            <a:off x="6070600" y="32766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F7DBD0-83E5-5661-F784-39FEE2FC2DEB}"/>
              </a:ext>
            </a:extLst>
          </p:cNvPr>
          <p:cNvSpPr txBox="1"/>
          <p:nvPr/>
        </p:nvSpPr>
        <p:spPr>
          <a:xfrm>
            <a:off x="6248400" y="34544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Publish control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9AC22-E4D5-300B-A7F1-E518FEE2DA87}"/>
              </a:ext>
            </a:extLst>
          </p:cNvPr>
          <p:cNvSpPr txBox="1"/>
          <p:nvPr/>
        </p:nvSpPr>
        <p:spPr>
          <a:xfrm>
            <a:off x="6248400" y="3708400"/>
            <a:ext cx="167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Admin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C8AC45-1EDD-4D67-67FF-6DB71EE32561}"/>
              </a:ext>
            </a:extLst>
          </p:cNvPr>
          <p:cNvSpPr/>
          <p:nvPr/>
        </p:nvSpPr>
        <p:spPr>
          <a:xfrm>
            <a:off x="7620000" y="3454400"/>
            <a:ext cx="304800" cy="304800"/>
          </a:xfrm>
          <a:prstGeom prst="rect">
            <a:avLst/>
          </a:prstGeom>
          <a:solidFill>
            <a:srgbClr val="2DD4BF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2DD4BF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7B8F4-7A6D-A9D3-989B-E82B852456FC}"/>
              </a:ext>
            </a:extLst>
          </p:cNvPr>
          <p:cNvSpPr/>
          <p:nvPr/>
        </p:nvSpPr>
        <p:spPr>
          <a:xfrm>
            <a:off x="6070600" y="44704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619750-D300-5BEC-809B-C146FFEE64FE}"/>
              </a:ext>
            </a:extLst>
          </p:cNvPr>
          <p:cNvSpPr txBox="1"/>
          <p:nvPr/>
        </p:nvSpPr>
        <p:spPr>
          <a:xfrm>
            <a:off x="6248400" y="46482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Count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D0B20-3454-F038-F4D7-8FC575B326A8}"/>
              </a:ext>
            </a:extLst>
          </p:cNvPr>
          <p:cNvSpPr txBox="1"/>
          <p:nvPr/>
        </p:nvSpPr>
        <p:spPr>
          <a:xfrm>
            <a:off x="6248400" y="4902200"/>
            <a:ext cx="167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REGISTERED only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FA79D-3CCC-F97C-9037-A7FF0269DD45}"/>
              </a:ext>
            </a:extLst>
          </p:cNvPr>
          <p:cNvSpPr/>
          <p:nvPr/>
        </p:nvSpPr>
        <p:spPr>
          <a:xfrm>
            <a:off x="7620000" y="4648200"/>
            <a:ext cx="304800" cy="304800"/>
          </a:xfrm>
          <a:prstGeom prst="rect">
            <a:avLst/>
          </a:prstGeom>
          <a:solidFill>
            <a:srgbClr val="34D399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34D399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86A60-2274-F397-1BC8-02863F4259D5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3</a:t>
            </a:r>
          </a:p>
        </p:txBody>
      </p:sp>
    </p:spTree>
    <p:extLst>
      <p:ext uri="{BB962C8B-B14F-4D97-AF65-F5344CB8AC3E}">
        <p14:creationId xmlns:p14="http://schemas.microsoft.com/office/powerpoint/2010/main" val="299294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1D3CE5-CFBD-0E34-A4FE-94C4A8E1ED37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E293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57E70-113F-2B64-5512-D18630AE2BEA}"/>
              </a:ext>
            </a:extLst>
          </p:cNvPr>
          <p:cNvSpPr txBox="1"/>
          <p:nvPr/>
        </p:nvSpPr>
        <p:spPr>
          <a:xfrm>
            <a:off x="431800" y="5842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67E8F9"/>
                </a:solidFill>
                <a:latin typeface="Aptos" panose="020B0004020202020204" pitchFamily="34" charset="0"/>
              </a:rPr>
              <a:t>ADMIN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5E010-B0BB-5E24-5E7F-BEF3C103C45A}"/>
              </a:ext>
            </a:extLst>
          </p:cNvPr>
          <p:cNvSpPr txBox="1"/>
          <p:nvPr/>
        </p:nvSpPr>
        <p:spPr>
          <a:xfrm>
            <a:off x="431800" y="863600"/>
            <a:ext cx="5207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F8FAFC"/>
                </a:solidFill>
                <a:latin typeface="Aptos Display" panose="020B0004020202020204" pitchFamily="34" charset="0"/>
              </a:rPr>
              <a:t>Admin tooling now covers activities, sports, and better defaults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049EE-7EA4-615B-6DCD-DD0F838D7C00}"/>
              </a:ext>
            </a:extLst>
          </p:cNvPr>
          <p:cNvSpPr txBox="1"/>
          <p:nvPr/>
        </p:nvSpPr>
        <p:spPr>
          <a:xfrm>
            <a:off x="431800" y="1778000"/>
            <a:ext cx="4953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CBD5E1"/>
                </a:solidFill>
                <a:latin typeface="Aptos" panose="020B0004020202020204" pitchFamily="34" charset="0"/>
              </a:rPr>
              <a:t>The admin workspace was extended beyond tournaments so staff can manage learning activities, sport definitions, and cleaner data defaults from the same application shell.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9A6C5-AB57-C8BB-2010-BEAE1C0D8060}"/>
              </a:ext>
            </a:extLst>
          </p:cNvPr>
          <p:cNvSpPr txBox="1"/>
          <p:nvPr/>
        </p:nvSpPr>
        <p:spPr>
          <a:xfrm>
            <a:off x="431800" y="2794000"/>
            <a:ext cx="4953000" cy="24878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Admin activities are handled through module CRUD, with create, update, and delete support wired to the existing routes and APIs.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New sports now default to the cricket icon so admin forms do not create empty visual states.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The admin navigation and dashboards now better reflect the platform as an operations tool, not only a player portal.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D9D8F-91FF-BD7E-1152-957651A88CBB}"/>
              </a:ext>
            </a:extLst>
          </p:cNvPr>
          <p:cNvSpPr/>
          <p:nvPr/>
        </p:nvSpPr>
        <p:spPr>
          <a:xfrm>
            <a:off x="5791200" y="736600"/>
            <a:ext cx="2895600" cy="4572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A1BA6-4997-178F-AB8B-8B670AB3ED72}"/>
              </a:ext>
            </a:extLst>
          </p:cNvPr>
          <p:cNvSpPr txBox="1"/>
          <p:nvPr/>
        </p:nvSpPr>
        <p:spPr>
          <a:xfrm>
            <a:off x="6070600" y="10414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4A3B8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024F3-79BA-74E9-6A28-A810F6F6B338}"/>
              </a:ext>
            </a:extLst>
          </p:cNvPr>
          <p:cNvSpPr txBox="1"/>
          <p:nvPr/>
        </p:nvSpPr>
        <p:spPr>
          <a:xfrm>
            <a:off x="6070600" y="1320800"/>
            <a:ext cx="2209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F8FAFC"/>
                </a:solidFill>
                <a:latin typeface="Aptos Display" panose="020B0004020202020204" pitchFamily="34" charset="0"/>
              </a:rPr>
              <a:t>Fewer dead ends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1DE71-43F6-AA52-5DBE-10A63FB8DB0B}"/>
              </a:ext>
            </a:extLst>
          </p:cNvPr>
          <p:cNvSpPr txBox="1"/>
          <p:nvPr/>
        </p:nvSpPr>
        <p:spPr>
          <a:xfrm>
            <a:off x="6070600" y="2082800"/>
            <a:ext cx="2286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>
                <a:solidFill>
                  <a:srgbClr val="CBD5E1"/>
                </a:solidFill>
                <a:latin typeface="Aptos" panose="020B0004020202020204" pitchFamily="34" charset="0"/>
              </a:rPr>
              <a:t>Admins can create and manage core catalogue data without dropping into database-only workflows or patched demo 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3B6B53-FDAD-AE5C-573B-8E38192C3CA4}"/>
              </a:ext>
            </a:extLst>
          </p:cNvPr>
          <p:cNvSpPr/>
          <p:nvPr/>
        </p:nvSpPr>
        <p:spPr>
          <a:xfrm>
            <a:off x="6070600" y="32766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8D322-A34C-F5D1-F5B0-7ED6458508C2}"/>
              </a:ext>
            </a:extLst>
          </p:cNvPr>
          <p:cNvSpPr txBox="1"/>
          <p:nvPr/>
        </p:nvSpPr>
        <p:spPr>
          <a:xfrm>
            <a:off x="6248400" y="34544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Activity control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F5468-E719-0271-49DD-83ED9C90C76C}"/>
              </a:ext>
            </a:extLst>
          </p:cNvPr>
          <p:cNvSpPr txBox="1"/>
          <p:nvPr/>
        </p:nvSpPr>
        <p:spPr>
          <a:xfrm>
            <a:off x="6248400" y="3708400"/>
            <a:ext cx="167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CRUD enabled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5707E7-FF1A-DBD5-ED20-55C6CF8C5645}"/>
              </a:ext>
            </a:extLst>
          </p:cNvPr>
          <p:cNvSpPr/>
          <p:nvPr/>
        </p:nvSpPr>
        <p:spPr>
          <a:xfrm>
            <a:off x="7620000" y="3454400"/>
            <a:ext cx="304800" cy="304800"/>
          </a:xfrm>
          <a:prstGeom prst="rect">
            <a:avLst/>
          </a:prstGeom>
          <a:solidFill>
            <a:srgbClr val="F59E0B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59E0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9B2209-792E-DB99-E2DE-59F6A9997F62}"/>
              </a:ext>
            </a:extLst>
          </p:cNvPr>
          <p:cNvSpPr/>
          <p:nvPr/>
        </p:nvSpPr>
        <p:spPr>
          <a:xfrm>
            <a:off x="6070600" y="44704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547E5-77B2-48E7-2D7A-DC0F40A229AE}"/>
              </a:ext>
            </a:extLst>
          </p:cNvPr>
          <p:cNvSpPr txBox="1"/>
          <p:nvPr/>
        </p:nvSpPr>
        <p:spPr>
          <a:xfrm>
            <a:off x="6248400" y="46482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Sport defaults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530393-272D-C2AB-3CD3-C743B6D882C1}"/>
              </a:ext>
            </a:extLst>
          </p:cNvPr>
          <p:cNvSpPr txBox="1"/>
          <p:nvPr/>
        </p:nvSpPr>
        <p:spPr>
          <a:xfrm>
            <a:off x="6248400" y="4902200"/>
            <a:ext cx="16764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Cricket icon prefilled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6E28A-5CDD-CC08-1418-D38A4E082159}"/>
              </a:ext>
            </a:extLst>
          </p:cNvPr>
          <p:cNvSpPr/>
          <p:nvPr/>
        </p:nvSpPr>
        <p:spPr>
          <a:xfrm>
            <a:off x="7620000" y="4648200"/>
            <a:ext cx="304800" cy="304800"/>
          </a:xfrm>
          <a:prstGeom prst="rect">
            <a:avLst/>
          </a:prstGeom>
          <a:solidFill>
            <a:srgbClr val="FB923C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B923C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C46571-692D-7A7B-A1E6-FF9DE99E7846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4</a:t>
            </a:r>
          </a:p>
        </p:txBody>
      </p:sp>
    </p:spTree>
    <p:extLst>
      <p:ext uri="{BB962C8B-B14F-4D97-AF65-F5344CB8AC3E}">
        <p14:creationId xmlns:p14="http://schemas.microsoft.com/office/powerpoint/2010/main" val="3647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69DB91-E872-16BF-236B-0DFF670DA066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E293B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7958B-6973-1298-5EA7-37D15C994260}"/>
              </a:ext>
            </a:extLst>
          </p:cNvPr>
          <p:cNvSpPr txBox="1"/>
          <p:nvPr/>
        </p:nvSpPr>
        <p:spPr>
          <a:xfrm>
            <a:off x="431800" y="5842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67E8F9"/>
                </a:solidFill>
                <a:latin typeface="Aptos" panose="020B0004020202020204" pitchFamily="34" charset="0"/>
              </a:rPr>
              <a:t>IMPORT LAB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B3703-3FAC-E884-C9B9-DB189AF6E430}"/>
              </a:ext>
            </a:extLst>
          </p:cNvPr>
          <p:cNvSpPr txBox="1"/>
          <p:nvPr/>
        </p:nvSpPr>
        <p:spPr>
          <a:xfrm>
            <a:off x="431800" y="863600"/>
            <a:ext cx="5207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F8FAFC"/>
                </a:solidFill>
                <a:latin typeface="Aptos Display" panose="020B0004020202020204" pitchFamily="34" charset="0"/>
              </a:rPr>
              <a:t>Admins can upload spreadsheets and run H2 imports from the 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C3B9B-0E5B-5FA4-B40C-3BF2FCE2C23B}"/>
              </a:ext>
            </a:extLst>
          </p:cNvPr>
          <p:cNvSpPr txBox="1"/>
          <p:nvPr/>
        </p:nvSpPr>
        <p:spPr>
          <a:xfrm>
            <a:off x="431800" y="1778000"/>
            <a:ext cx="4953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CBD5E1"/>
                </a:solidFill>
                <a:latin typeface="Aptos" panose="020B0004020202020204" pitchFamily="34" charset="0"/>
              </a:rPr>
              <a:t>The original spreadsheet migration logic was refactored into a reusable service and exposed through an admin-only upload flow, so imports can now run from inside the product.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041DE-34F8-A35F-D41E-80266F55527F}"/>
              </a:ext>
            </a:extLst>
          </p:cNvPr>
          <p:cNvSpPr txBox="1"/>
          <p:nvPr/>
        </p:nvSpPr>
        <p:spPr>
          <a:xfrm>
            <a:off x="431800" y="2794000"/>
            <a:ext cx="4953000" cy="24878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Import Lab lives in the admin navigation and accepts spreadsheet uploads from the browser.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The backend now reuses the same spreadsheet import logic for startup-run migrations and admin uploads.</a:t>
            </a:r>
          </a:p>
          <a:p>
            <a:pPr>
              <a:spcAft>
                <a:spcPts val="700"/>
              </a:spcAft>
            </a:pPr>
            <a:r>
              <a:rPr lang="en-GB" sz="1800">
                <a:solidFill>
                  <a:srgbClr val="E2E8F0"/>
                </a:solidFill>
                <a:latin typeface="Aptos" panose="020B0004020202020204" pitchFamily="34" charset="0"/>
              </a:rPr>
              <a:t>• Live validation confirmed the sample workbook imported 7 sheets and 99 rows, while player access was blocked with HTTP 403.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9129D-DA32-B7C7-C624-E13EC084E591}"/>
              </a:ext>
            </a:extLst>
          </p:cNvPr>
          <p:cNvSpPr/>
          <p:nvPr/>
        </p:nvSpPr>
        <p:spPr>
          <a:xfrm>
            <a:off x="5791200" y="736600"/>
            <a:ext cx="2895600" cy="4572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2A42E-F355-F8C8-A90D-FEAED168FEB1}"/>
              </a:ext>
            </a:extLst>
          </p:cNvPr>
          <p:cNvSpPr txBox="1"/>
          <p:nvPr/>
        </p:nvSpPr>
        <p:spPr>
          <a:xfrm>
            <a:off x="6070600" y="10414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94A3B8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49FE8-CDA5-406C-A4F5-2D4A31C74FB4}"/>
              </a:ext>
            </a:extLst>
          </p:cNvPr>
          <p:cNvSpPr txBox="1"/>
          <p:nvPr/>
        </p:nvSpPr>
        <p:spPr>
          <a:xfrm>
            <a:off x="6070600" y="1320800"/>
            <a:ext cx="22098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 b="1">
                <a:solidFill>
                  <a:srgbClr val="F8FAFC"/>
                </a:solidFill>
                <a:latin typeface="Aptos Display" panose="020B0004020202020204" pitchFamily="34" charset="0"/>
              </a:rPr>
              <a:t>Data ops inside the 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58CD3-820C-B072-C327-4C7ADDE57CF3}"/>
              </a:ext>
            </a:extLst>
          </p:cNvPr>
          <p:cNvSpPr txBox="1"/>
          <p:nvPr/>
        </p:nvSpPr>
        <p:spPr>
          <a:xfrm>
            <a:off x="6070600" y="2082800"/>
            <a:ext cx="2286000" cy="16004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>
                <a:solidFill>
                  <a:srgbClr val="CBD5E1"/>
                </a:solidFill>
                <a:latin typeface="Aptos" panose="020B0004020202020204" pitchFamily="34" charset="0"/>
              </a:rPr>
              <a:t>This closes the gap between technical migration tooling and the admin interface, which makes demos and local data refreshes much easier.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33C07A-B33B-63D3-A8F5-447AD0C97612}"/>
              </a:ext>
            </a:extLst>
          </p:cNvPr>
          <p:cNvSpPr/>
          <p:nvPr/>
        </p:nvSpPr>
        <p:spPr>
          <a:xfrm>
            <a:off x="6070600" y="32766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3E3BD-A1B2-4DD5-E582-479159B32DDB}"/>
              </a:ext>
            </a:extLst>
          </p:cNvPr>
          <p:cNvSpPr txBox="1"/>
          <p:nvPr/>
        </p:nvSpPr>
        <p:spPr>
          <a:xfrm>
            <a:off x="6248400" y="34544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Endpoint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58EEAC-F921-1D3A-6DF3-F8A0EF86972A}"/>
              </a:ext>
            </a:extLst>
          </p:cNvPr>
          <p:cNvSpPr txBox="1"/>
          <p:nvPr/>
        </p:nvSpPr>
        <p:spPr>
          <a:xfrm>
            <a:off x="6248400" y="3708400"/>
            <a:ext cx="16764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/api/admin/imports/spreadsheets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20F80-EF4C-E392-676F-C2E9CFFFF1C1}"/>
              </a:ext>
            </a:extLst>
          </p:cNvPr>
          <p:cNvSpPr/>
          <p:nvPr/>
        </p:nvSpPr>
        <p:spPr>
          <a:xfrm>
            <a:off x="7620000" y="3454400"/>
            <a:ext cx="304800" cy="304800"/>
          </a:xfrm>
          <a:prstGeom prst="rect">
            <a:avLst/>
          </a:prstGeom>
          <a:solidFill>
            <a:srgbClr val="A78BFA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A78BFA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D9628C-2C99-B0B3-F346-A7A1B6D570C1}"/>
              </a:ext>
            </a:extLst>
          </p:cNvPr>
          <p:cNvSpPr/>
          <p:nvPr/>
        </p:nvSpPr>
        <p:spPr>
          <a:xfrm>
            <a:off x="6070600" y="4470400"/>
            <a:ext cx="2032000" cy="1092200"/>
          </a:xfrm>
          <a:prstGeom prst="rect">
            <a:avLst/>
          </a:prstGeom>
          <a:solidFill>
            <a:srgbClr val="132033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6FA58-DDD4-0D29-BF45-92192D83648F}"/>
              </a:ext>
            </a:extLst>
          </p:cNvPr>
          <p:cNvSpPr txBox="1"/>
          <p:nvPr/>
        </p:nvSpPr>
        <p:spPr>
          <a:xfrm>
            <a:off x="6248400" y="4648200"/>
            <a:ext cx="165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94A3B8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6A38E0-1D6B-1A6F-7136-1B76B950711D}"/>
              </a:ext>
            </a:extLst>
          </p:cNvPr>
          <p:cNvSpPr txBox="1"/>
          <p:nvPr/>
        </p:nvSpPr>
        <p:spPr>
          <a:xfrm>
            <a:off x="6248400" y="4902200"/>
            <a:ext cx="16764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F8FAFC"/>
                </a:solidFill>
                <a:latin typeface="Aptos Display" panose="020B0004020202020204" pitchFamily="34" charset="0"/>
              </a:rPr>
              <a:t>Admin pass  |  Player denied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3CF93A-3942-31B6-9047-8C77DCD62B9D}"/>
              </a:ext>
            </a:extLst>
          </p:cNvPr>
          <p:cNvSpPr/>
          <p:nvPr/>
        </p:nvSpPr>
        <p:spPr>
          <a:xfrm>
            <a:off x="7620000" y="4648200"/>
            <a:ext cx="304800" cy="304800"/>
          </a:xfrm>
          <a:prstGeom prst="rect">
            <a:avLst/>
          </a:prstGeom>
          <a:solidFill>
            <a:srgbClr val="C084FC">
              <a:alpha val="90000"/>
            </a:srgbClr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C084FC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37D16F-A417-33D4-2983-F6A73CC47A76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5</a:t>
            </a:r>
          </a:p>
        </p:txBody>
      </p:sp>
    </p:spTree>
    <p:extLst>
      <p:ext uri="{BB962C8B-B14F-4D97-AF65-F5344CB8AC3E}">
        <p14:creationId xmlns:p14="http://schemas.microsoft.com/office/powerpoint/2010/main" val="118833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7BAC3-E4AF-3A13-A645-84CF866F7EC0}"/>
              </a:ext>
            </a:extLst>
          </p:cNvPr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14532D">
                    <a:alpha val="8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23B9F-AC32-6063-7677-C104A2B60743}"/>
              </a:ext>
            </a:extLst>
          </p:cNvPr>
          <p:cNvSpPr txBox="1"/>
          <p:nvPr/>
        </p:nvSpPr>
        <p:spPr>
          <a:xfrm>
            <a:off x="431800" y="711200"/>
            <a:ext cx="279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86EFAC"/>
                </a:solidFill>
                <a:latin typeface="Aptos" panose="020B0004020202020204" pitchFamily="34" charset="0"/>
              </a:rPr>
              <a:t>READY FOR DEMO AND HANDOFF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CC085-1D6F-1606-44BF-F600B60CED70}"/>
              </a:ext>
            </a:extLst>
          </p:cNvPr>
          <p:cNvSpPr txBox="1"/>
          <p:nvPr/>
        </p:nvSpPr>
        <p:spPr>
          <a:xfrm>
            <a:off x="431800" y="990600"/>
            <a:ext cx="4572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800" b="1">
                <a:solidFill>
                  <a:srgbClr val="F8FAFC"/>
                </a:solidFill>
                <a:latin typeface="Aptos Display" panose="020B0004020202020204" pitchFamily="34" charset="0"/>
              </a:rPr>
              <a:t>Local run state and demo talking 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7766C-FEC8-AB55-234D-E15EA98EF7C1}"/>
              </a:ext>
            </a:extLst>
          </p:cNvPr>
          <p:cNvSpPr txBox="1"/>
          <p:nvPr/>
        </p:nvSpPr>
        <p:spPr>
          <a:xfrm>
            <a:off x="431800" y="1727200"/>
            <a:ext cx="5334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>
                <a:solidFill>
                  <a:srgbClr val="CBD5E1"/>
                </a:solidFill>
                <a:latin typeface="Aptos" panose="020B0004020202020204" pitchFamily="34" charset="0"/>
              </a:rPr>
              <a:t>Use this deck alongside the live app to walk through the player experience first, then switch to the admin workspace for tournament controls, content management, and Import Lab.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CB2AB-1229-F8FC-1E88-2DEBA0ADC8F9}"/>
              </a:ext>
            </a:extLst>
          </p:cNvPr>
          <p:cNvSpPr/>
          <p:nvPr/>
        </p:nvSpPr>
        <p:spPr>
          <a:xfrm>
            <a:off x="431800" y="2794000"/>
            <a:ext cx="3810000" cy="2159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5CDEA-C954-4101-481F-B6F447D7386D}"/>
              </a:ext>
            </a:extLst>
          </p:cNvPr>
          <p:cNvSpPr txBox="1"/>
          <p:nvPr/>
        </p:nvSpPr>
        <p:spPr>
          <a:xfrm>
            <a:off x="685800" y="3048000"/>
            <a:ext cx="228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 b="1">
                <a:solidFill>
                  <a:srgbClr val="F8FAFC"/>
                </a:solidFill>
                <a:latin typeface="Aptos" panose="020B0004020202020204" pitchFamily="34" charset="0"/>
              </a:rPr>
              <a:t>Suggested demo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E50E5-3B82-A5F9-F155-E30A678CB0F6}"/>
              </a:ext>
            </a:extLst>
          </p:cNvPr>
          <p:cNvSpPr txBox="1"/>
          <p:nvPr/>
        </p:nvSpPr>
        <p:spPr>
          <a:xfrm>
            <a:off x="685800" y="3454400"/>
            <a:ext cx="3048000" cy="140038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1. Home page feature sliders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2. Badge and module progress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3. Tournament admin controls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4. Import Lab spreadsheet upload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46B22-B766-552F-8CE5-41A787E94540}"/>
              </a:ext>
            </a:extLst>
          </p:cNvPr>
          <p:cNvSpPr/>
          <p:nvPr/>
        </p:nvSpPr>
        <p:spPr>
          <a:xfrm>
            <a:off x="4622800" y="2794000"/>
            <a:ext cx="4089400" cy="2159000"/>
          </a:xfrm>
          <a:prstGeom prst="rect">
            <a:avLst/>
          </a:prstGeom>
          <a:solidFill>
            <a:srgbClr val="111C2E"/>
          </a:solidFill>
          <a:ln w="19050" cap="flat" cmpd="sng" algn="ctr">
            <a:solidFill>
              <a:srgbClr val="22314A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00ABCF-674A-D22C-21EA-A80ADFC9D5A5}"/>
              </a:ext>
            </a:extLst>
          </p:cNvPr>
          <p:cNvSpPr txBox="1"/>
          <p:nvPr/>
        </p:nvSpPr>
        <p:spPr>
          <a:xfrm>
            <a:off x="4876800" y="3048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 b="1">
                <a:solidFill>
                  <a:srgbClr val="F8FAFC"/>
                </a:solidFill>
                <a:latin typeface="Aptos" panose="020B0004020202020204" pitchFamily="34" charset="0"/>
              </a:rPr>
              <a:t>Verified local environment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D8D4C-6229-90A3-A567-46871751B70F}"/>
              </a:ext>
            </a:extLst>
          </p:cNvPr>
          <p:cNvSpPr txBox="1"/>
          <p:nvPr/>
        </p:nvSpPr>
        <p:spPr>
          <a:xfrm>
            <a:off x="4876800" y="3454400"/>
            <a:ext cx="3175000" cy="140038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Frontend: http://127.0.0.1:3000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Backend: http://localhost:8080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Health: actuator status UP</a:t>
            </a:r>
          </a:p>
          <a:p>
            <a:r>
              <a:rPr lang="en-GB" sz="1700">
                <a:solidFill>
                  <a:srgbClr val="E2E8F0"/>
                </a:solidFill>
                <a:latin typeface="Aptos" panose="020B0004020202020204" pitchFamily="34" charset="0"/>
              </a:rPr>
              <a:t>Spreadsheet import: sample workbook succeeded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9ADDC9-A42E-FFA1-6490-D0E0B3928203}"/>
              </a:ext>
            </a:extLst>
          </p:cNvPr>
          <p:cNvSpPr txBox="1"/>
          <p:nvPr/>
        </p:nvSpPr>
        <p:spPr>
          <a:xfrm>
            <a:off x="406400" y="6426200"/>
            <a:ext cx="8331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94A3B8"/>
                </a:solidFill>
                <a:latin typeface="Aptos" panose="020B0004020202020204" pitchFamily="34" charset="0"/>
              </a:rPr>
              <a:t>Wishaw eSports Platform  |  Feature Showcase  |  Slide 6</a:t>
            </a:r>
          </a:p>
        </p:txBody>
      </p:sp>
    </p:spTree>
    <p:extLst>
      <p:ext uri="{BB962C8B-B14F-4D97-AF65-F5344CB8AC3E}">
        <p14:creationId xmlns:p14="http://schemas.microsoft.com/office/powerpoint/2010/main" val="278378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Office PowerPoint</Application>
  <PresentationFormat>On-screen Show (16:9)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Anumandla, Harish Kumar (Lloyds Technology Centre (GSL) Delivery, Lloyds Tech Office - GCOO)</dc:creator>
  <cp:lastModifiedBy>Anumandla, Harish Kumar (Lloyds Technology Centre (GSL) Delivery, Lloyds Tech Office - GCOO)</cp:lastModifiedBy>
  <cp:revision>1</cp:revision>
  <dcterms:created xsi:type="dcterms:W3CDTF">2026-03-31T10:45:33Z</dcterms:created>
  <dcterms:modified xsi:type="dcterms:W3CDTF">2026-03-31T10:45:33Z</dcterms:modified>
</cp:coreProperties>
</file>